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F5A"/>
          </a:solidFill>
          <a:ln w="12700">
            <a:solidFill>
              <a:srgbClr val="16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22650"/>
          </a:solidFill>
          <a:ln w="12700">
            <a:solidFill>
              <a:srgbClr val="1226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6583680" cy="54864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Simulación de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Comportamiento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IA Local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Metodología · Valor para Riesgos Financieros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Riesgos Financieros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G&amp;T Continental —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645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Arias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en Innovación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Gestión de Riesgos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gap en los stress tests actuales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3108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estáticos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PD y tasas de retiro se asumen fijas. "El 15% retira en 48 horas" — un número inventado en una sala, no emergente del comportamiento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54864" cy="310896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diferenciación de segmento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depositante rural de 60 años y un millennial urbano reaccionan de forma radicalmente distinta. Los modelos actuales los tratan igual.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54864" cy="31089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371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efecto cascada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pánico de un grupo contagia a otro. Ese efecto dinámico no existe en los stress tests convencionales basados en planillas.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real: ¿qué comportamiento emerge cuando ocurre el shock? No qué número asumimos.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01 / Contexto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simulación de comportamiento masivo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383280"/>
          </a:xfrm>
          <a:prstGeom prst="rect">
            <a:avLst/>
          </a:prstGeom>
          <a:solidFill>
            <a:srgbClr val="F4F6FA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asumir que "el X% retira en N horas", el sistema pregunta: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reacciona cada segmento de clientes dado su perfil de comportamiento, el estado del mercado, y lo que están haciendo los otros segmentos?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output no es un supuesto. Es comportamiento emergente.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188720"/>
            <a:ext cx="54864" cy="10058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calibrados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5727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tiene parámetros de comportamiento derivados de datos reales del banco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304288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2304288"/>
            <a:ext cx="54864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774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(Ollama)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6883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decisión que simula respuestas en lenguaje natural. Sin datos fuera del banco.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419856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3419856"/>
            <a:ext cx="54864" cy="100584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493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cascada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8039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de un grupo afectan el estado del escenario y las decisiones del siguiente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02 / Visión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243B6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1280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(anonimizada)   ·   Portafolios de crédito   ·   Historial de comportamiento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8503920" cy="804672"/>
          </a:xfrm>
          <a:prstGeom prst="rect">
            <a:avLst/>
          </a:prstGeom>
          <a:solidFill>
            <a:srgbClr val="1A3355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93392"/>
            <a:ext cx="73152" cy="80467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39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SIMULACIÓN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217627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con parámetros calibrados   ·   Orquestador Python (hora / mes por mes)   ·   Lógica de cascada y retroalimentación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89504"/>
            <a:ext cx="8503920" cy="804672"/>
          </a:xfrm>
          <a:prstGeom prst="rect">
            <a:avLst/>
          </a:prstGeom>
          <a:solidFill>
            <a:srgbClr val="162850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89504"/>
            <a:ext cx="73152" cy="804672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35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 (OLLAMA)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307238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/ Mistral corriendo localmente   ·   Genera decisiones de comportamiento por arquetipo   ·   Sin API externa — datos nunca salen del servidor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8503920" cy="804672"/>
          </a:xfrm>
          <a:prstGeom prst="rect">
            <a:avLst/>
          </a:prstGeom>
          <a:solidFill>
            <a:srgbClr val="11204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85616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313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OUTPUTS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396849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(Streamlit)   ·   Curvas de retiro, PD dinámica, LCR proyectado   ·   Exportable a Excel / reporte regulatorio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1901952"/>
            <a:ext cx="457200" cy="8229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798064"/>
            <a:ext cx="457200" cy="8229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3694176"/>
            <a:ext cx="457200" cy="8229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0D1B35"/>
          </a:solidFill>
          <a:ln w="6350">
            <a:solidFill>
              <a:srgbClr val="E887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dentro de la infraestructura del banco. Ningún dato sensible sale. Compliance y Seguridad no tienen objeción.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03 / Arquitectura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simulación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234440"/>
            <a:ext cx="548640" cy="548640"/>
          </a:xfrm>
          <a:prstGeom prst="oval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arquetipos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tiene: probabilidad de default base, sensibilidad a shocks macro, canal de respuesta preferido, umbral de pánico y latencia de reacción.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31720" y="2331720"/>
            <a:ext cx="164592" cy="54864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188720"/>
            <a:ext cx="20116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234440"/>
            <a:ext cx="548640" cy="548640"/>
          </a:xfrm>
          <a:prstGeom prst="oval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87752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escenario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304288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el shock: intensidad, velocidad, variables macro (Δdesempleo, Δinflación, Δtipo de cambio). El estado inicial se distribuye a todos los arquetipos.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07992" y="2331720"/>
            <a:ext cx="164592" cy="54864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188720"/>
            <a:ext cx="20116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04104" y="1234440"/>
            <a:ext cx="548640" cy="548640"/>
          </a:xfrm>
          <a:prstGeom prst="oval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04104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4024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por período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2304288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/ mes, el LLM recibe el estado del arquetipo + estado del escenario y genera una decisión. La decisión se agrega estadísticamente sobre la población del segmento.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84264" y="2331720"/>
            <a:ext cx="164592" cy="54864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1188720"/>
            <a:ext cx="20116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0376" y="1234440"/>
            <a:ext cx="548640" cy="548640"/>
          </a:xfrm>
          <a:prstGeom prst="oval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0376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0296" y="1901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Retroalimentar y calcular outputs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2304288"/>
            <a:ext cx="18288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agregadas actualizan el estado del escenario (intensidad del rumor, presión en canales, PD dinámica). Los outputs — LCR, pérdida esperada, curvas — se calculan acumulativamente.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04 / Metodología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módulos de stress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365760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724912" cy="5943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Liquidez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de depósitos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Retiros acumulados (QM)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LCR proyectado hora a hora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Presión por canal operativo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2286000" cy="9144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9923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arquetipos de depositantes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PRINCIPAL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del rumor + hora de intervención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43000"/>
            <a:ext cx="54864" cy="3657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143000"/>
            <a:ext cx="272491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17043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Crédito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148132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Deterioro de portafolio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82880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20299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 dinámica por segmento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Pérdida esperada acumulada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 de mora proyectado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944368"/>
            <a:ext cx="2286000" cy="9144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99923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32004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segmentos crediticios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354787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PRINCIPAL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7490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desempleo + Δ inflación + mes de refinanciamiento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1143000"/>
            <a:ext cx="2724912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143000"/>
            <a:ext cx="54864" cy="365760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143000"/>
            <a:ext cx="2724912" cy="59436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170432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Tipo de Cambio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1481328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FX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828800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029968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Curva de depreciación del GTQ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Retiros de depósitos USD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Deterioro de cartera FX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2944368"/>
            <a:ext cx="2286000" cy="9144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99923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32004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segmentos de exposición FX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3547872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PRINCIPAL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37490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depreciación + velocidad + rumor de control de cambios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05 / Módulos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de comportamiento — Módulo Liquidez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161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06624" y="1161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23944" y="11612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Sensib. rumor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9824" y="11612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pánico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75704" y="11612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prom.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01584" y="11612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2704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728216"/>
            <a:ext cx="164592" cy="164592"/>
          </a:xfrm>
          <a:prstGeom prst="oval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60020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Depositante conservador +55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06624" y="160020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23944" y="16002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9824" y="16002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75704" y="16002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Q45,000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1584" y="160020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850392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322576"/>
            <a:ext cx="164592" cy="164592"/>
          </a:xfrm>
          <a:prstGeom prst="oval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219456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Empresario c/ línea crédito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06624" y="219456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23944" y="21945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9824" y="21945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75704" y="21945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Q200,000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01584" y="21945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71576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2916936"/>
            <a:ext cx="164592" cy="164592"/>
          </a:xfrm>
          <a:prstGeom prst="oval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27889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 digital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06624" y="278892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23944" y="27889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9824" y="27889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5704" y="27889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Q15,000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01584" y="278892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Transfer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310128"/>
            <a:ext cx="8503920" cy="566928"/>
          </a:xfrm>
          <a:prstGeom prst="rect">
            <a:avLst/>
          </a:prstGeom>
          <a:solidFill>
            <a:srgbClr val="F4F6FA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511296"/>
            <a:ext cx="164592" cy="164592"/>
          </a:xfrm>
          <a:prstGeom prst="oval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3383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rural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06624" y="33832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23944" y="33832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9824" y="33832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75704" y="33832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Q7,500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01584" y="33832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90448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105656"/>
            <a:ext cx="164592" cy="164592"/>
          </a:xfrm>
          <a:prstGeom prst="oval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39776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de agencia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06624" y="39776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23944" y="3977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9824" y="3977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75704" y="39776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01584" y="39776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interno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parámetros se calibran con datos reales del portafolio del banco. Precisión escala con calidad de datos.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06 / Arquetipos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LLM en la simulación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566160"/>
          </a:xfrm>
          <a:prstGeom prst="rect">
            <a:avLst/>
          </a:prstGeom>
          <a:solidFill>
            <a:srgbClr val="12243E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LLM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931920" cy="2286000"/>
          </a:xfrm>
          <a:prstGeom prst="rect">
            <a:avLst/>
          </a:prstGeom>
          <a:solidFill>
            <a:srgbClr val="0A1828"/>
          </a:solidFill>
          <a:ln w="6350">
            <a:solidFill>
              <a:srgbClr val="2A48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45920"/>
            <a:ext cx="3794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INPUT:
</a:t>
            </a:r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"Eres un depositante conservador de 62 años con Q150,000 en ahorro.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actual — Hora 3: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Intensidad del rumor: 7/10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40% de tu segmento ya fue a la agencia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App del banco: lenta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Comunicado oficial: ninguno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haces?"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2633472"/>
            <a:ext cx="365760" cy="54864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97280"/>
            <a:ext cx="4023360" cy="3566160"/>
          </a:xfrm>
          <a:prstGeom prst="rect">
            <a:avLst/>
          </a:prstGeom>
          <a:solidFill>
            <a:srgbClr val="12243E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07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estructurado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572768"/>
            <a:ext cx="3840480" cy="1371600"/>
          </a:xfrm>
          <a:prstGeom prst="rect">
            <a:avLst/>
          </a:prstGeom>
          <a:solidFill>
            <a:srgbClr val="0A1828"/>
          </a:solidFill>
          <a:ln w="6350">
            <a:solidFill>
              <a:srgbClr val="2A48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64592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8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JSON:
</a:t>
            </a:r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"accion": "retira_todo",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"probabilidad": 0.88,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"canal": "agencia",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"razon": "Nivel de alarma alto, actúo antes de que empeore"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C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se aplica estadísticamente sobre la población del arquetipo → N clientes actúan → acumulado actualizado → estado del escenario retroalimentado para la siguiente hora.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solidFill>
            <a:srgbClr val="0A2A0A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542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Ollama corre 100% en el servidor del banco. El modelo nunca envía datos a APIs externas. Llama 3 / Mistral — modelos open source.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07 / Motor IA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corrida de depósitos — impacto de intervención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2724912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intervención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57276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Retirado acumulado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75564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Q410M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" y="22128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mínimo: 0.75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487168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bajo límite regulatorio en hora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54864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43000"/>
            <a:ext cx="2724912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61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hora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57276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Retirado acumulado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75564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10128" y="22128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mínimo: 1.38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487168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 oficial frena la cascada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143000"/>
            <a:ext cx="27249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143000"/>
            <a:ext cx="54864" cy="201168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143000"/>
            <a:ext cx="2724912" cy="36576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161288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hora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0488" y="157276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Retirado acumulado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0488" y="1755648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Q277M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90488" y="22128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mínimo: 0.89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487168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Tarde: el daño ya está hecho en hora 4-5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291840"/>
            <a:ext cx="8503920" cy="1005840"/>
          </a:xfrm>
          <a:prstGeom prst="rect">
            <a:avLst/>
          </a:prstGeom>
          <a:solidFill>
            <a:srgbClr val="1B3A6B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intervenir en hora 2 vs hora 5: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6210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Q270M en retiros adicionales — y un LCR que pasa de 1.38 a 0.89.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08 / Ejemplo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y requerimientos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2461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3200400"/>
                <a:gridCol w="1645920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 sensible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+ Llama 3 (open source)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 decisiones de comportamiento por arquetipo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local — sin API externa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 simulación, cascada, agregación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interno del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del portafolio (CSV / 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Parámetros de arquetipos calibrados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Anonimizados, uso 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Visualización interactiva, sliders en vivo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exposición externa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Windows / Linux 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8GB RAM mínimo (16GB recomendado)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GPU requerida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80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estimado de implementación: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34640" y="44805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Prototipo funcional — 4 semanas   ·   Fase 2: Calibración con datos reales — 4 semanas   ·   Fase 3: Demo y documentación — 1 semana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09 / Stack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Riesgos Financieros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66420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Stress tests más ricos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supuestos estáticos con comportamiento emergente. Cada segmento responde diferente al mismo shock — eso cambia las curvas de forma significativa.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54864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161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Escenarios explorables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8191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el shock ocurre un viernes vs lunes? ¿Si hay o no comunicado oficial? ¿Si la app cae en hora 2? El sistema permite explorar esas preguntas antes de que ocurran.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143000"/>
            <a:ext cx="54864" cy="16642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161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Cero riesgo regulatorio de datos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58191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100% local. Cumplimiento no tiene objeción. Los datos de clientes nunca abandonan la infraestructura del banco.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54864" cy="1664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992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Mejora progresiva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tiene valor desde el día uno. Con calibración de datos reales se vuelve más preciso con cada iteración. No es un proyecto de big-bang.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54864" cy="1664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992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Base para innovación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36499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 es extensible a liquidez, crédito y FX simultáneamente. Puede evolucionar hacia una plataforma transversal de la VP de Riesgos.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24912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54864" cy="16642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992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Velocidad de construcción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364992"/>
            <a:ext cx="24505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 usa Python y herramientas open source que un desarrollador con perfil CS puede dominar en días. El MVP funcional es alcanzable en 4 semanas.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10 / Valor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ACADÉMICA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académicos e institucionales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743200" cy="2743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CIENTÍFICA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" y="1444752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2E5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444752"/>
            <a:ext cx="45720" cy="166420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51790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Agent Simulations of 1,000 People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19019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Park, Zou et al. — Stanford University, Nov 2024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1214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LLM replican comportamiento de 1,052 personas reales con 85% de precisión vs. test-retest humano. Base empírica de que LLMs pueden simular comportamiento real.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944368"/>
            <a:ext cx="25420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arxiv.org/abs/2411.10109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" y="3200400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2E5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3200400"/>
            <a:ext cx="45720" cy="166420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Agents: Interactive Simulacra of Human Behavior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3657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Park, O'Brien et al. — Stanford / Google, ACM UIST 2023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3877056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seminal de agentes con memoria, planificación e interacción social. Marco conceptual directo de esta propuesta.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4700016"/>
            <a:ext cx="25420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arxiv.org/abs/2304.03442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743200" cy="27432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11556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FINANCIERA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444752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E887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444752"/>
            <a:ext cx="45720" cy="16642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51790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Modeling at Central Banks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19019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England Working Paper, 2025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10128" y="21214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ABMs son herramientas complementarias efectivas para bancos centrales. Documenta su uso en política y estabilidad financiera post-crisis 2008.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2944368"/>
            <a:ext cx="25420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bankofengland.co.uk/working-paper/2025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E887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200400"/>
            <a:ext cx="45720" cy="1664208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Supervisory Stress Tests More Macroprudential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0128" y="3657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8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Committee on Banking Supervision — BIS WP 29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3877056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de Basilea recomienda explícitamente incorporar interacciones sistémicas y efectos de retroalimentación en los stress tests (Principio 8).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4700016"/>
            <a:ext cx="25420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bis.org/bcbs/publ/wp29.pdf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08192" y="1097280"/>
            <a:ext cx="27432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11556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AÚN NO EXISTE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08192" y="1444752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8192" y="1444752"/>
            <a:ext cx="45720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51790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documentado en la industria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190195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propia — 2025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2121408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caso publicado de un banco usando LLMs con arquetipos de comportamiento en producción para stress testing regulatorio. La base científica está validada; la aplicación bancaria específica está pendiente.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08192" y="3200400"/>
            <a:ext cx="2743200" cy="1664208"/>
          </a:xfrm>
          <a:prstGeom prst="rect">
            <a:avLst/>
          </a:prstGeom>
          <a:solidFill>
            <a:srgbClr val="0D1E35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3200400"/>
            <a:ext cx="45720" cy="16642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27355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primer mover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6576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G&amp;T Continental — Centroamérica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17920" y="3877056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este caso posiciona a la VP de Riesgos como referente regional en innovación analítica. El momento es ahora — antes de que sea estándar de mercado.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|  Gerencia de Riesgos Financieros — G&amp;T Continental  |  11 / Referencias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F5A"/>
          </a:solidFill>
          <a:ln w="12700">
            <a:solidFill>
              <a:srgbClr val="16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22650"/>
          </a:solidFill>
          <a:ln w="12700">
            <a:solidFill>
              <a:srgbClr val="1226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00"/>
            <a:ext cx="6583680" cy="54864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A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Sesión de trabajo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definir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primer escenario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· Riesgos Financieros + recurso técnico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escenario prioritario · Alinear acceso a datos · Arrancar Fase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560320" cy="502920"/>
          </a:xfrm>
          <a:prstGeom prst="rect">
            <a:avLst/>
          </a:prstGeom>
          <a:solidFill>
            <a:srgbClr val="E8871A"/>
          </a:solidFill>
          <a:ln w="12700">
            <a:solidFill>
              <a:srgbClr val="E887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demo en vivo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8288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Arias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en Innovación — VP Riesgos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G&amp;T Continental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Testing — Arquitectura y Metodología</dc:title>
  <dc:subject>PptxGenJS Presentation</dc:subject>
  <dc:creator>Nicolas Arias</dc:creator>
  <cp:lastModifiedBy>Nicolas Arias</cp:lastModifiedBy>
  <cp:revision>1</cp:revision>
  <dcterms:created xsi:type="dcterms:W3CDTF">2026-03-19T14:11:35Z</dcterms:created>
  <dcterms:modified xsi:type="dcterms:W3CDTF">2026-03-19T14:11:35Z</dcterms:modified>
</cp:coreProperties>
</file>